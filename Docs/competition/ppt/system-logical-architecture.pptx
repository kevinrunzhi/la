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b9916a22ae4969" /><Relationship Type="http://schemas.openxmlformats.org/officeDocument/2006/relationships/extended-properties" Target="/docProps/app.xml" Id="Rc535a59496e947cf" /><Relationship Type="http://schemas.openxmlformats.org/officeDocument/2006/relationships/officeDocument" Target="/ppt/presentation.xml" Id="R04901d98c73b4e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ff3ca1fe7c41d0"/>
  </p:sldMasterIdLst>
  <p:notesMasterIdLst>
    <p:notesMasterId xmlns:r="http://schemas.openxmlformats.org/officeDocument/2006/relationships" r:id="R44d2aff071e2482d"/>
  </p:notesMasterIdLst>
  <p:sldIdLst>
    <p:sldId xmlns:r="http://schemas.openxmlformats.org/officeDocument/2006/relationships" id="256" r:id="R62539422e60743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f41e9dea564cd0" /><Relationship Type="http://schemas.openxmlformats.org/officeDocument/2006/relationships/slideMaster" Target="/ppt/slideMasters/slideMaster1.xml" Id="R0aff3ca1fe7c41d0" /><Relationship Type="http://schemas.openxmlformats.org/officeDocument/2006/relationships/notesMaster" Target="/ppt/notesMasters/notesMaster1.xml" Id="R44d2aff071e2482d" /><Relationship Type="http://schemas.openxmlformats.org/officeDocument/2006/relationships/presProps" Target="/ppt/presProps.xml" Id="R4d7f402403954698" /><Relationship Type="http://schemas.openxmlformats.org/officeDocument/2006/relationships/tableStyles" Target="/ppt/tableStyles.xml" Id="R0343bfb6f79b43d0" /><Relationship Type="http://schemas.openxmlformats.org/officeDocument/2006/relationships/slide" Target="/ppt/slides/slide1.xml" Id="R62539422e607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a6fee1cafe4e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7aa486b1de4300" /><Relationship Type="http://schemas.openxmlformats.org/officeDocument/2006/relationships/notesMaster" Target="/ppt/notesMasters/notesMaster1.xml" Id="Rf58a6c9f663d4a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7809ca83846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12bac9262647ab" /><Relationship Type="http://schemas.openxmlformats.org/officeDocument/2006/relationships/slideLayout" Target="/ppt/slideLayouts/slideLayout1.xml" Id="R83d374bbb3f846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374bbb3f846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db6992c4d4b89" /><Relationship Type="http://schemas.openxmlformats.org/officeDocument/2006/relationships/notesSlide" Target="/ppt/notesSlides/notesSlide1.xml" Id="Rc95a31cc5e9d40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C64E7138-5F8D-4142-B69B-C3CF458B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E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5EEF"/>
                </a:solidFill>
                <a:latin typeface="Microsoft YaHei"/>
                <a:ea typeface="Microsoft YaHei"/>
                <a:cs typeface="Microsoft YaHei"/>
              </a:rPr>
              <a:t>SYSTEM LOGICAL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F6852F-E55A-4584-AB39-EEAE0D98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03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统一业务入口，把现场检修、专家审核与知识回流连成闭环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21B3B4B-E9C8-40B3-B54E-85DB66FE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业务规则由核心服务控制；模型提供识别、检索与生成能力，不替代工程师和专家确认。</a:t>
            </a:r>
          </a:p>
        </p:txBody>
      </p:sp>
      <p:sp>
        <p:nvSpPr>
          <p:cNvPr id="4" name="layer-1">
            <a:extLst xmlns:a="http://schemas.openxmlformats.org/drawingml/2006/main">
              <a:ext uri="{FF2B5EF4-FFF2-40B4-BE49-F238E27FC236}">
                <a16:creationId xmlns:a16="http://schemas.microsoft.com/office/drawing/2014/main" id="{4E6ABC76-3C44-4FFA-B8FC-0C8D2A17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952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8496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用户角色</a:t>
            </a:r>
          </a:p>
        </p:txBody>
      </p:sp>
      <p:sp>
        <p:nvSpPr>
          <p:cNvPr id="5" name="roles-frame">
            <a:extLst xmlns:a="http://schemas.openxmlformats.org/drawingml/2006/main">
              <a:ext uri="{FF2B5EF4-FFF2-40B4-BE49-F238E27FC236}">
                <a16:creationId xmlns:a16="http://schemas.microsoft.com/office/drawing/2014/main" id="{78F432F1-EEF9-4740-9A76-E03F91C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257300"/>
            <a:ext cx="80391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role-engineer">
            <a:extLst xmlns:a="http://schemas.openxmlformats.org/drawingml/2006/main">
              <a:ext uri="{FF2B5EF4-FFF2-40B4-BE49-F238E27FC236}">
                <a16:creationId xmlns:a16="http://schemas.microsoft.com/office/drawing/2014/main" id="{981C2F3C-5AB7-479D-BCFC-24174459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33500"/>
            <a:ext cx="2247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520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一线检修工程师</a:t>
            </a:r>
          </a:p>
        </p:txBody>
      </p:sp>
      <p:sp>
        <p:nvSpPr>
          <p:cNvPr id="7" name="role-expert">
            <a:extLst xmlns:a="http://schemas.openxmlformats.org/drawingml/2006/main">
              <a:ext uri="{FF2B5EF4-FFF2-40B4-BE49-F238E27FC236}">
                <a16:creationId xmlns:a16="http://schemas.microsoft.com/office/drawing/2014/main" id="{11B13A05-7FD9-436B-9AB6-3D975765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33500"/>
            <a:ext cx="2247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520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检修专家</a:t>
            </a:r>
          </a:p>
        </p:txBody>
      </p:sp>
      <p:sp>
        <p:nvSpPr>
          <p:cNvPr id="8" name="role-admin">
            <a:extLst xmlns:a="http://schemas.openxmlformats.org/drawingml/2006/main">
              <a:ext uri="{FF2B5EF4-FFF2-40B4-BE49-F238E27FC236}">
                <a16:creationId xmlns:a16="http://schemas.microsoft.com/office/drawing/2014/main" id="{545BD971-CD3E-41DF-AC3F-D833C72F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33500"/>
            <a:ext cx="2247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520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用户管理员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BF8C1-532B-418A-A84A-D3D1946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24025"/>
            <a:ext cx="19050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0" name="layer-2">
            <a:extLst xmlns:a="http://schemas.openxmlformats.org/drawingml/2006/main">
              <a:ext uri="{FF2B5EF4-FFF2-40B4-BE49-F238E27FC236}">
                <a16:creationId xmlns:a16="http://schemas.microsoft.com/office/drawing/2014/main" id="{EEBAFD63-738F-46B6-BC06-1729409B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952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EFF4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交互呈现</a:t>
            </a:r>
          </a:p>
        </p:txBody>
      </p:sp>
      <p:sp>
        <p:nvSpPr>
          <p:cNvPr id="11" name="presentation-frame">
            <a:extLst xmlns:a="http://schemas.openxmlformats.org/drawingml/2006/main">
              <a:ext uri="{FF2B5EF4-FFF2-40B4-BE49-F238E27FC236}">
                <a16:creationId xmlns:a16="http://schemas.microsoft.com/office/drawing/2014/main" id="{0FC6BACB-C2C8-4913-B3B4-2DFE309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47850"/>
            <a:ext cx="8039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B2CC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755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工程师端　｜　专家端　｜　用户管理后台</a:t>
            </a:r>
          </a:p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知识图谱可视化 · 浏览器语音采集 · 作业卡与证据查看</a:t>
            </a:r>
          </a:p>
        </p:txBody>
      </p:sp>
      <p:sp>
        <p:nvSpPr>
          <p:cNvPr id="12" name="browser-tag">
            <a:extLst xmlns:a="http://schemas.openxmlformats.org/drawingml/2006/main">
              <a:ext uri="{FF2B5EF4-FFF2-40B4-BE49-F238E27FC236}">
                <a16:creationId xmlns:a16="http://schemas.microsoft.com/office/drawing/2014/main" id="{CA14FA88-BB8D-4FFE-B0A1-09C81C1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47850"/>
            <a:ext cx="1943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B/S 架构</a:t>
            </a:r>
          </a:p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Vue 3 + TypeScript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1F361-545C-41F9-942E-13213A4D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28875"/>
            <a:ext cx="19050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4" name="layer-3">
            <a:extLst xmlns:a="http://schemas.openxmlformats.org/drawingml/2006/main">
              <a:ext uri="{FF2B5EF4-FFF2-40B4-BE49-F238E27FC236}">
                <a16:creationId xmlns:a16="http://schemas.microsoft.com/office/drawing/2014/main" id="{DDB53430-3DE7-42C5-A104-596A569B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9525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5245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15" name="nginx">
            <a:extLst xmlns:a="http://schemas.openxmlformats.org/drawingml/2006/main">
              <a:ext uri="{FF2B5EF4-FFF2-40B4-BE49-F238E27FC236}">
                <a16:creationId xmlns:a16="http://schemas.microsoft.com/office/drawing/2014/main" id="{F2971130-F643-4440-83E9-51D12279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803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86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Nginx 统一访问入口　·　静态资源　·　反向代理　·　统一路由</a:t>
            </a:r>
          </a:p>
        </p:txBody>
      </p:sp>
      <p:sp>
        <p:nvSpPr>
          <p:cNvPr id="16" name="access-note">
            <a:extLst xmlns:a="http://schemas.openxmlformats.org/drawingml/2006/main">
              <a:ext uri="{FF2B5EF4-FFF2-40B4-BE49-F238E27FC236}">
                <a16:creationId xmlns:a16="http://schemas.microsoft.com/office/drawing/2014/main" id="{5D6537DC-9B36-4D2F-8F67-1D47A342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52700"/>
            <a:ext cx="1943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49A9"/>
          </a:solidFill>
          <a:ln xmlns:a="http://schemas.openxmlformats.org/drawingml/2006/main" w="9525">
            <a:solidFill>
              <a:srgbClr val="1849A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单一受控入口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5B82B-9747-4C98-8FC9-D79B4A77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24175"/>
            <a:ext cx="19050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8" name="layer-4">
            <a:extLst xmlns:a="http://schemas.openxmlformats.org/drawingml/2006/main">
              <a:ext uri="{FF2B5EF4-FFF2-40B4-BE49-F238E27FC236}">
                <a16:creationId xmlns:a16="http://schemas.microsoft.com/office/drawing/2014/main" id="{5B732AF4-D213-4314-B1E3-0AE9A767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952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核心业务</a:t>
            </a:r>
          </a:p>
        </p:txBody>
      </p:sp>
      <p:sp>
        <p:nvSpPr>
          <p:cNvPr id="19" name="core-frame">
            <a:extLst xmlns:a="http://schemas.openxmlformats.org/drawingml/2006/main">
              <a:ext uri="{FF2B5EF4-FFF2-40B4-BE49-F238E27FC236}">
                <a16:creationId xmlns:a16="http://schemas.microsoft.com/office/drawing/2014/main" id="{65D02D67-423F-4618-A3BB-44F7F50B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48000"/>
            <a:ext cx="80391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core-0">
            <a:extLst xmlns:a="http://schemas.openxmlformats.org/drawingml/2006/main">
              <a:ext uri="{FF2B5EF4-FFF2-40B4-BE49-F238E27FC236}">
                <a16:creationId xmlns:a16="http://schemas.microsoft.com/office/drawing/2014/main" id="{D3289DA5-DB54-4C76-BC35-6BBBD7AF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4097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E0A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身份与权限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用户与组织</a:t>
            </a:r>
          </a:p>
        </p:txBody>
      </p:sp>
      <p:sp>
        <p:nvSpPr>
          <p:cNvPr id="21" name="core-1">
            <a:extLst xmlns:a="http://schemas.openxmlformats.org/drawingml/2006/main">
              <a:ext uri="{FF2B5EF4-FFF2-40B4-BE49-F238E27FC236}">
                <a16:creationId xmlns:a16="http://schemas.microsoft.com/office/drawing/2014/main" id="{82F8B656-F407-4DA4-9AD6-F5525EF6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14097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E0A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检修业务域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工单与诊断</a:t>
            </a:r>
          </a:p>
        </p:txBody>
      </p:sp>
      <p:sp>
        <p:nvSpPr>
          <p:cNvPr id="22" name="core-2">
            <a:extLst xmlns:a="http://schemas.openxmlformats.org/drawingml/2006/main">
              <a:ext uri="{FF2B5EF4-FFF2-40B4-BE49-F238E27FC236}">
                <a16:creationId xmlns:a16="http://schemas.microsoft.com/office/drawing/2014/main" id="{E804824B-E9A7-4D10-AD5A-12CF2B1C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14097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E0A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专家审核域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确认与驳回</a:t>
            </a:r>
          </a:p>
        </p:txBody>
      </p:sp>
      <p:sp>
        <p:nvSpPr>
          <p:cNvPr id="23" name="core-3">
            <a:extLst xmlns:a="http://schemas.openxmlformats.org/drawingml/2006/main">
              <a:ext uri="{FF2B5EF4-FFF2-40B4-BE49-F238E27FC236}">
                <a16:creationId xmlns:a16="http://schemas.microsoft.com/office/drawing/2014/main" id="{7597DDE1-1EF0-4756-8B14-94F2BF7C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14097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E0A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知识管理域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图谱变更</a:t>
            </a:r>
          </a:p>
        </p:txBody>
      </p:sp>
      <p:sp>
        <p:nvSpPr>
          <p:cNvPr id="24" name="core-4">
            <a:extLst xmlns:a="http://schemas.openxmlformats.org/drawingml/2006/main">
              <a:ext uri="{FF2B5EF4-FFF2-40B4-BE49-F238E27FC236}">
                <a16:creationId xmlns:a16="http://schemas.microsoft.com/office/drawing/2014/main" id="{15539639-A97E-4104-8E4C-32CC676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81350"/>
            <a:ext cx="14097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E0A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文件与作业卡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统一模型网关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D4B37-776F-4712-B688-07A6789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33825"/>
            <a:ext cx="19050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26" name="model-api">
            <a:extLst xmlns:a="http://schemas.openxmlformats.org/drawingml/2006/main">
              <a:ext uri="{FF2B5EF4-FFF2-40B4-BE49-F238E27FC236}">
                <a16:creationId xmlns:a16="http://schemas.microsoft.com/office/drawing/2014/main" id="{3B10DDD5-FFD2-4F75-B9E2-19C770D9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48000"/>
            <a:ext cx="19431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84AD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千问模型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语言模型</a:t>
            </a:r>
          </a:p>
          <a:p xmlns:a="http://schemas.openxmlformats.org/drawingml/2006/main">
            <a:pPr algn="ctr">
              <a:def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OCR · ASR</a:t>
            </a:r>
          </a:p>
          <a:p xmlns:a="http://schemas.openxmlformats.org/drawingml/2006/main">
            <a:pPr algn="ctr">
              <a:def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向量化 · 重排序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经统一模型网关调用</a:t>
            </a:r>
          </a:p>
        </p:txBody>
      </p:sp>
      <p:sp>
        <p:nvSpPr>
          <p:cNvPr id="27" name="layer-5">
            <a:extLst xmlns:a="http://schemas.openxmlformats.org/drawingml/2006/main">
              <a:ext uri="{FF2B5EF4-FFF2-40B4-BE49-F238E27FC236}">
                <a16:creationId xmlns:a16="http://schemas.microsoft.com/office/drawing/2014/main" id="{83B59754-9E5A-4606-8C03-CFB5803B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9525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CFDFF"/>
          </a:solidFill>
          <a:ln xmlns:a="http://schemas.openxmlformats.org/drawingml/2006/main" w="9525">
            <a:solidFill>
              <a:srgbClr val="ECFD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智能能力</a:t>
            </a:r>
          </a:p>
        </p:txBody>
      </p:sp>
      <p:sp>
        <p:nvSpPr>
          <p:cNvPr id="28" name="ai-frame">
            <a:extLst xmlns:a="http://schemas.openxmlformats.org/drawingml/2006/main">
              <a:ext uri="{FF2B5EF4-FFF2-40B4-BE49-F238E27FC236}">
                <a16:creationId xmlns:a16="http://schemas.microsoft.com/office/drawing/2014/main" id="{3CE2DBFC-AE70-465F-8DC9-F3232FF8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95750"/>
            <a:ext cx="80391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CFDFF"/>
          </a:solidFill>
          <a:ln xmlns:a="http://schemas.openxmlformats.org/drawingml/2006/main" w="9525">
            <a:solidFill>
              <a:srgbClr val="A5F0F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ai-0">
            <a:extLst xmlns:a="http://schemas.openxmlformats.org/drawingml/2006/main">
              <a:ext uri="{FF2B5EF4-FFF2-40B4-BE49-F238E27FC236}">
                <a16:creationId xmlns:a16="http://schemas.microsoft.com/office/drawing/2014/main" id="{5659216F-66D3-411B-A79B-95C7EA0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1809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E3F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文档与多模态处理</a:t>
            </a:r>
          </a:p>
        </p:txBody>
      </p:sp>
      <p:sp>
        <p:nvSpPr>
          <p:cNvPr id="30" name="ai-1">
            <a:extLst xmlns:a="http://schemas.openxmlformats.org/drawingml/2006/main">
              <a:ext uri="{FF2B5EF4-FFF2-40B4-BE49-F238E27FC236}">
                <a16:creationId xmlns:a16="http://schemas.microsoft.com/office/drawing/2014/main" id="{A16168F3-C2E7-4249-96AE-131DC736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1809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E3F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混合检索与重排序</a:t>
            </a:r>
          </a:p>
        </p:txBody>
      </p:sp>
      <p:sp>
        <p:nvSpPr>
          <p:cNvPr id="31" name="ai-2">
            <a:extLst xmlns:a="http://schemas.openxmlformats.org/drawingml/2006/main">
              <a:ext uri="{FF2B5EF4-FFF2-40B4-BE49-F238E27FC236}">
                <a16:creationId xmlns:a16="http://schemas.microsoft.com/office/drawing/2014/main" id="{EB88C7C8-148E-411D-9789-C96BE6E9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29100"/>
            <a:ext cx="1809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E3F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RAG 诊断与问答</a:t>
            </a:r>
          </a:p>
        </p:txBody>
      </p:sp>
      <p:sp>
        <p:nvSpPr>
          <p:cNvPr id="32" name="ai-3">
            <a:extLst xmlns:a="http://schemas.openxmlformats.org/drawingml/2006/main">
              <a:ext uri="{FF2B5EF4-FFF2-40B4-BE49-F238E27FC236}">
                <a16:creationId xmlns:a16="http://schemas.microsoft.com/office/drawing/2014/main" id="{EF8D0B41-B5D9-48F1-8A1D-4FAE0104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1809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E3F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知识抽取与图谱变更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11C60-AD0E-4727-ABBC-34FAB20E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86325"/>
            <a:ext cx="19050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34" name="layer-6">
            <a:extLst xmlns:a="http://schemas.openxmlformats.org/drawingml/2006/main">
              <a:ext uri="{FF2B5EF4-FFF2-40B4-BE49-F238E27FC236}">
                <a16:creationId xmlns:a16="http://schemas.microsoft.com/office/drawing/2014/main" id="{81B8F46E-9BDB-405D-A9EF-2C47C6D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9525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数据资源</a:t>
            </a:r>
          </a:p>
        </p:txBody>
      </p:sp>
      <p:sp>
        <p:nvSpPr>
          <p:cNvPr id="35" name="data-frame">
            <a:extLst xmlns:a="http://schemas.openxmlformats.org/drawingml/2006/main">
              <a:ext uri="{FF2B5EF4-FFF2-40B4-BE49-F238E27FC236}">
                <a16:creationId xmlns:a16="http://schemas.microsoft.com/office/drawing/2014/main" id="{60D22550-ACDD-4645-9B7C-A8A6D8E8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391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data-0">
            <a:extLst xmlns:a="http://schemas.openxmlformats.org/drawingml/2006/main">
              <a:ext uri="{FF2B5EF4-FFF2-40B4-BE49-F238E27FC236}">
                <a16:creationId xmlns:a16="http://schemas.microsoft.com/office/drawing/2014/main" id="{DFF065DA-39EF-474A-B13B-4F45037F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1809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EC84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256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+ pgvector</a:t>
            </a:r>
          </a:p>
        </p:txBody>
      </p:sp>
      <p:sp>
        <p:nvSpPr>
          <p:cNvPr id="37" name="data-1">
            <a:extLst xmlns:a="http://schemas.openxmlformats.org/drawingml/2006/main">
              <a:ext uri="{FF2B5EF4-FFF2-40B4-BE49-F238E27FC236}">
                <a16:creationId xmlns:a16="http://schemas.microsoft.com/office/drawing/2014/main" id="{B8EDEA17-99D9-40AF-A4F0-54195568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43500"/>
            <a:ext cx="1809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EC84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256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</p:txBody>
      </p:sp>
      <p:sp>
        <p:nvSpPr>
          <p:cNvPr id="38" name="data-2">
            <a:extLst xmlns:a="http://schemas.openxmlformats.org/drawingml/2006/main">
              <a:ext uri="{FF2B5EF4-FFF2-40B4-BE49-F238E27FC236}">
                <a16:creationId xmlns:a16="http://schemas.microsoft.com/office/drawing/2014/main" id="{90B7D19A-7F78-45F0-B80D-3596B311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43500"/>
            <a:ext cx="1809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EC84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256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缓存与任务队列</a:t>
            </a:r>
          </a:p>
        </p:txBody>
      </p:sp>
      <p:sp>
        <p:nvSpPr>
          <p:cNvPr id="39" name="data-3">
            <a:extLst xmlns:a="http://schemas.openxmlformats.org/drawingml/2006/main">
              <a:ext uri="{FF2B5EF4-FFF2-40B4-BE49-F238E27FC236}">
                <a16:creationId xmlns:a16="http://schemas.microsoft.com/office/drawing/2014/main" id="{91DBDE96-409B-40E7-B58A-C685D34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1809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EC84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2566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文件资源库</a:t>
            </a:r>
          </a:p>
          <a:p xmlns:a="http://schemas.openxmlformats.org/drawingml/2006/main">
            <a:pPr algn="ctr">
              <a:def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原文与作业卡</a:t>
            </a:r>
          </a:p>
        </p:txBody>
      </p:sp>
      <p:cxnSp>
        <p:nvCxnSpPr>
          <p:cNvPr id="82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353550" y="3486150"/>
            <a:ext cx="4381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EEF"/>
            </a:solidFill>
            <a:prstDash val="dash"/>
            <a:headEnd type="arrow" w="sm" len="sm"/>
          </a:ln>
        </p:spPr>
      </p:cxnSp>
      <p:sp>
        <p:nvSpPr>
          <p:cNvPr id="41" name="ops">
            <a:extLst xmlns:a="http://schemas.openxmlformats.org/drawingml/2006/main">
              <a:ext uri="{FF2B5EF4-FFF2-40B4-BE49-F238E27FC236}">
                <a16:creationId xmlns:a16="http://schemas.microsoft.com/office/drawing/2014/main" id="{C19C5739-15FE-45CD-93D5-75A784B5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目标随包部署：LoongArch64 + 银河麒麟　｜　systemd 服务编排　｜　Celery 异步任务　｜　Prometheus + Grafana 可观测</a:t>
            </a:r>
          </a:p>
        </p:txBody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FDA74E1A-F425-4014-ABC3-18398C5F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11277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系统逻辑架构｜面向比赛答辩的目标架构视图</a:t>
            </a:r>
          </a:p>
        </p:txBody>
      </p:sp>
    </p:spTree>
    <p:extLst>
      <p:ext uri="{BB962C8B-B14F-4D97-AF65-F5344CB8AC3E}">
        <p14:creationId xmlns:p14="http://schemas.microsoft.com/office/powerpoint/2010/main" val="227334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2026-07-18T12:12:53.2180000Z</dcterms:created>
  <dcterms:modified xsi:type="dcterms:W3CDTF">2026-07-18T12:12:53.2180000Z</dcterms:modified>
</coreProperties>
</file>